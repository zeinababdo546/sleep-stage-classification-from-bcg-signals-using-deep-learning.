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Adumu Regular" charset="1" panose="02000503000000000000"/>
      <p:regular r:id="rId29"/>
    </p:embeddedFont>
    <p:embeddedFont>
      <p:font typeface="Livvic" charset="1" panose="00000000000000000000"/>
      <p:regular r:id="rId30"/>
    </p:embeddedFont>
    <p:embeddedFont>
      <p:font typeface="Livvic Bold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65552" y="1858366"/>
            <a:ext cx="12712127" cy="534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spc="499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SLEEP STAGE</a:t>
            </a:r>
          </a:p>
          <a:p>
            <a:pPr algn="ctr">
              <a:lnSpc>
                <a:spcPts val="13999"/>
              </a:lnSpc>
            </a:pPr>
            <a:r>
              <a:rPr lang="en-US" sz="9999" spc="499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CLASSIFICATION</a:t>
            </a:r>
          </a:p>
          <a:p>
            <a:pPr algn="ctr">
              <a:lnSpc>
                <a:spcPts val="139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933081" y="5360226"/>
            <a:ext cx="8777067" cy="893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4"/>
              </a:lnSpc>
            </a:pPr>
            <a:r>
              <a:rPr lang="en-US" sz="4235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Using ECG-Based IHR Signals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58768" y="7119342"/>
            <a:ext cx="12381012" cy="137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2"/>
              </a:lnSpc>
              <a:spcBef>
                <a:spcPct val="0"/>
              </a:spcBef>
            </a:pPr>
            <a:r>
              <a:rPr lang="en-US" sz="3937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By: Zeinab Abdo</a:t>
            </a:r>
          </a:p>
          <a:p>
            <a:pPr algn="ctr">
              <a:lnSpc>
                <a:spcPts val="5512"/>
              </a:lnSpc>
              <a:spcBef>
                <a:spcPct val="0"/>
              </a:spcBef>
            </a:pPr>
            <a:r>
              <a:rPr lang="en-US" sz="3937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Supervised by: Dr. Ibrahim Sadek | Eng. Veronica William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393763" y="7517693"/>
            <a:ext cx="2297602" cy="3481215"/>
          </a:xfrm>
          <a:custGeom>
            <a:avLst/>
            <a:gdLst/>
            <a:ahLst/>
            <a:cxnLst/>
            <a:rect r="r" b="b" t="t" l="l"/>
            <a:pathLst>
              <a:path h="3481215" w="2297602">
                <a:moveTo>
                  <a:pt x="0" y="0"/>
                </a:moveTo>
                <a:lnTo>
                  <a:pt x="2297602" y="0"/>
                </a:lnTo>
                <a:lnTo>
                  <a:pt x="2297602" y="3481214"/>
                </a:lnTo>
                <a:lnTo>
                  <a:pt x="0" y="3481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07418" y="21908"/>
            <a:ext cx="9913297" cy="1737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0"/>
              </a:lnSpc>
            </a:pPr>
            <a:r>
              <a:rPr lang="en-US" sz="9600" spc="48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PIPELINE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274050" y="-2476003"/>
            <a:ext cx="2807256" cy="4128318"/>
          </a:xfrm>
          <a:custGeom>
            <a:avLst/>
            <a:gdLst/>
            <a:ahLst/>
            <a:cxnLst/>
            <a:rect r="r" b="b" t="t" l="l"/>
            <a:pathLst>
              <a:path h="4128318" w="2807256">
                <a:moveTo>
                  <a:pt x="0" y="0"/>
                </a:moveTo>
                <a:lnTo>
                  <a:pt x="2807256" y="0"/>
                </a:lnTo>
                <a:lnTo>
                  <a:pt x="2807256" y="4128319"/>
                </a:lnTo>
                <a:lnTo>
                  <a:pt x="0" y="41283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6081017" y="3091635"/>
            <a:ext cx="657225" cy="0"/>
          </a:xfrm>
          <a:prstGeom prst="line">
            <a:avLst/>
          </a:prstGeom>
          <a:ln cap="flat" w="47625">
            <a:solidFill>
              <a:srgbClr val="15374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" id="5"/>
          <p:cNvGrpSpPr/>
          <p:nvPr/>
        </p:nvGrpSpPr>
        <p:grpSpPr>
          <a:xfrm rot="0">
            <a:off x="2073155" y="2179062"/>
            <a:ext cx="4007862" cy="1825147"/>
            <a:chOff x="0" y="0"/>
            <a:chExt cx="934175" cy="425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4175" cy="425416"/>
            </a:xfrm>
            <a:custGeom>
              <a:avLst/>
              <a:gdLst/>
              <a:ahLst/>
              <a:cxnLst/>
              <a:rect r="r" b="b" t="t" l="l"/>
              <a:pathLst>
                <a:path h="425416" w="934175">
                  <a:moveTo>
                    <a:pt x="0" y="0"/>
                  </a:moveTo>
                  <a:lnTo>
                    <a:pt x="934175" y="0"/>
                  </a:lnTo>
                  <a:lnTo>
                    <a:pt x="934175" y="425416"/>
                  </a:lnTo>
                  <a:lnTo>
                    <a:pt x="0" y="42541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53743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934175" cy="453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38242" y="2179062"/>
            <a:ext cx="3937390" cy="1825147"/>
            <a:chOff x="0" y="0"/>
            <a:chExt cx="917749" cy="4254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7750" cy="425416"/>
            </a:xfrm>
            <a:custGeom>
              <a:avLst/>
              <a:gdLst/>
              <a:ahLst/>
              <a:cxnLst/>
              <a:rect r="r" b="b" t="t" l="l"/>
              <a:pathLst>
                <a:path h="425416" w="917750">
                  <a:moveTo>
                    <a:pt x="0" y="0"/>
                  </a:moveTo>
                  <a:lnTo>
                    <a:pt x="917750" y="0"/>
                  </a:lnTo>
                  <a:lnTo>
                    <a:pt x="917750" y="425416"/>
                  </a:lnTo>
                  <a:lnTo>
                    <a:pt x="0" y="42541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5374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7749" cy="453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2"/>
                </a:lnSpc>
              </a:pPr>
            </a:p>
            <a:p>
              <a:pPr algn="ctr">
                <a:lnSpc>
                  <a:spcPts val="2152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6143467" y="6798214"/>
            <a:ext cx="1363961" cy="14245"/>
          </a:xfrm>
          <a:prstGeom prst="line">
            <a:avLst/>
          </a:prstGeom>
          <a:ln cap="flat" w="47625">
            <a:solidFill>
              <a:srgbClr val="15374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3677155" y="5731729"/>
            <a:ext cx="2466312" cy="2161459"/>
            <a:chOff x="0" y="0"/>
            <a:chExt cx="574862" cy="5038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4862" cy="503805"/>
            </a:xfrm>
            <a:custGeom>
              <a:avLst/>
              <a:gdLst/>
              <a:ahLst/>
              <a:cxnLst/>
              <a:rect r="r" b="b" t="t" l="l"/>
              <a:pathLst>
                <a:path h="503805" w="574862">
                  <a:moveTo>
                    <a:pt x="0" y="0"/>
                  </a:moveTo>
                  <a:lnTo>
                    <a:pt x="574862" y="0"/>
                  </a:lnTo>
                  <a:lnTo>
                    <a:pt x="574862" y="503805"/>
                  </a:lnTo>
                  <a:lnTo>
                    <a:pt x="0" y="503805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53743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74862" cy="532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2"/>
                </a:lnSpc>
              </a:pPr>
            </a:p>
            <a:p>
              <a:pPr algn="ctr">
                <a:lnSpc>
                  <a:spcPts val="2152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07429" y="5731729"/>
            <a:ext cx="2460675" cy="2132970"/>
            <a:chOff x="0" y="0"/>
            <a:chExt cx="573548" cy="4971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3548" cy="497165"/>
            </a:xfrm>
            <a:custGeom>
              <a:avLst/>
              <a:gdLst/>
              <a:ahLst/>
              <a:cxnLst/>
              <a:rect r="r" b="b" t="t" l="l"/>
              <a:pathLst>
                <a:path h="497165" w="573548">
                  <a:moveTo>
                    <a:pt x="0" y="0"/>
                  </a:moveTo>
                  <a:lnTo>
                    <a:pt x="573548" y="0"/>
                  </a:lnTo>
                  <a:lnTo>
                    <a:pt x="573548" y="497165"/>
                  </a:lnTo>
                  <a:lnTo>
                    <a:pt x="0" y="497165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53743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573548" cy="525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2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0675632" y="3091635"/>
            <a:ext cx="656731" cy="14846"/>
          </a:xfrm>
          <a:prstGeom prst="line">
            <a:avLst/>
          </a:prstGeom>
          <a:ln cap="flat" w="47625">
            <a:solidFill>
              <a:srgbClr val="15374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9" id="19"/>
          <p:cNvGrpSpPr/>
          <p:nvPr/>
        </p:nvGrpSpPr>
        <p:grpSpPr>
          <a:xfrm rot="0">
            <a:off x="11332363" y="2179062"/>
            <a:ext cx="3437023" cy="1854838"/>
            <a:chOff x="0" y="0"/>
            <a:chExt cx="801121" cy="4323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01121" cy="432336"/>
            </a:xfrm>
            <a:custGeom>
              <a:avLst/>
              <a:gdLst/>
              <a:ahLst/>
              <a:cxnLst/>
              <a:rect r="r" b="b" t="t" l="l"/>
              <a:pathLst>
                <a:path h="432336" w="801121">
                  <a:moveTo>
                    <a:pt x="0" y="0"/>
                  </a:moveTo>
                  <a:lnTo>
                    <a:pt x="801121" y="0"/>
                  </a:lnTo>
                  <a:lnTo>
                    <a:pt x="801121" y="432336"/>
                  </a:lnTo>
                  <a:lnTo>
                    <a:pt x="0" y="43233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53743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801121" cy="460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2"/>
                </a:lnSpc>
              </a:pPr>
            </a:p>
            <a:p>
              <a:pPr algn="ctr">
                <a:lnSpc>
                  <a:spcPts val="5092"/>
                </a:lnSpc>
              </a:pPr>
              <a:r>
                <a:rPr lang="en-US" sz="3637">
                  <a:solidFill>
                    <a:srgbClr val="000000"/>
                  </a:solidFill>
                  <a:latin typeface="Livvic"/>
                  <a:ea typeface="Livvic"/>
                  <a:cs typeface="Livvic"/>
                  <a:sym typeface="Livvic"/>
                </a:rPr>
                <a:t>Feature Extraction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flipV="true">
            <a:off x="9968401" y="6769726"/>
            <a:ext cx="1363961" cy="14245"/>
          </a:xfrm>
          <a:prstGeom prst="line">
            <a:avLst/>
          </a:prstGeom>
          <a:ln cap="flat" w="47625">
            <a:solidFill>
              <a:srgbClr val="15374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3" id="23"/>
          <p:cNvGrpSpPr/>
          <p:nvPr/>
        </p:nvGrpSpPr>
        <p:grpSpPr>
          <a:xfrm rot="0">
            <a:off x="11332363" y="5703241"/>
            <a:ext cx="3437023" cy="2132970"/>
            <a:chOff x="0" y="0"/>
            <a:chExt cx="801121" cy="49716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1121" cy="497165"/>
            </a:xfrm>
            <a:custGeom>
              <a:avLst/>
              <a:gdLst/>
              <a:ahLst/>
              <a:cxnLst/>
              <a:rect r="r" b="b" t="t" l="l"/>
              <a:pathLst>
                <a:path h="497165" w="801121">
                  <a:moveTo>
                    <a:pt x="0" y="0"/>
                  </a:moveTo>
                  <a:lnTo>
                    <a:pt x="801121" y="0"/>
                  </a:lnTo>
                  <a:lnTo>
                    <a:pt x="801121" y="497165"/>
                  </a:lnTo>
                  <a:lnTo>
                    <a:pt x="0" y="497165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53743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801121" cy="525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2"/>
                </a:lnSpc>
              </a:pPr>
            </a:p>
            <a:p>
              <a:pPr algn="ctr">
                <a:lnSpc>
                  <a:spcPts val="2152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>
            <a:off x="3677155" y="3106481"/>
            <a:ext cx="11092230" cy="3705978"/>
          </a:xfrm>
          <a:custGeom>
            <a:avLst/>
            <a:gdLst/>
            <a:ahLst/>
            <a:cxnLst/>
            <a:rect r="r" b="b" t="t" l="l"/>
            <a:pathLst>
              <a:path h="3705978" w="11092230">
                <a:moveTo>
                  <a:pt x="11092230" y="0"/>
                </a:moveTo>
                <a:lnTo>
                  <a:pt x="5889015" y="0"/>
                </a:lnTo>
                <a:cubicBezTo>
                  <a:pt x="5699637" y="0"/>
                  <a:pt x="5546115" y="153521"/>
                  <a:pt x="5546115" y="342900"/>
                </a:cubicBezTo>
                <a:lnTo>
                  <a:pt x="5546115" y="3363078"/>
                </a:lnTo>
                <a:cubicBezTo>
                  <a:pt x="5546115" y="3454020"/>
                  <a:pt x="5509989" y="3541238"/>
                  <a:pt x="5445682" y="3605544"/>
                </a:cubicBezTo>
                <a:cubicBezTo>
                  <a:pt x="5381376" y="3669851"/>
                  <a:pt x="5294158" y="3705978"/>
                  <a:pt x="5203215" y="3705978"/>
                </a:cubicBezTo>
                <a:lnTo>
                  <a:pt x="0" y="3705978"/>
                </a:lnTo>
              </a:path>
            </a:pathLst>
          </a:custGeom>
          <a:ln cap="flat" w="47625">
            <a:solidFill>
              <a:srgbClr val="15374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7" id="27"/>
          <p:cNvSpPr txBox="true"/>
          <p:nvPr/>
        </p:nvSpPr>
        <p:spPr>
          <a:xfrm rot="0">
            <a:off x="2128346" y="2095621"/>
            <a:ext cx="3897479" cy="2333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5"/>
              </a:lnSpc>
            </a:pPr>
            <a:r>
              <a:rPr lang="en-US" sz="345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Channel Selection</a:t>
            </a:r>
          </a:p>
          <a:p>
            <a:pPr algn="ctr">
              <a:lnSpc>
                <a:spcPts val="6365"/>
              </a:lnSpc>
            </a:pPr>
            <a:r>
              <a:rPr lang="en-US" sz="345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(EKG)</a:t>
            </a:r>
          </a:p>
          <a:p>
            <a:pPr algn="ctr">
              <a:lnSpc>
                <a:spcPts val="6365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6966718" y="2743182"/>
            <a:ext cx="3019054" cy="62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8"/>
              </a:lnSpc>
            </a:pPr>
            <a:r>
              <a:rPr lang="en-US" sz="3670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Preprocessing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858189" y="5846112"/>
            <a:ext cx="2112445" cy="1264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8"/>
              </a:lnSpc>
            </a:pPr>
            <a:r>
              <a:rPr lang="en-US" sz="3670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Data Balancing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678874" y="6134806"/>
            <a:ext cx="2112445" cy="1264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8"/>
              </a:lnSpc>
            </a:pPr>
            <a:r>
              <a:rPr lang="en-US" sz="3670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Hybrid Model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506478" y="6188486"/>
            <a:ext cx="3262908" cy="62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8"/>
              </a:lnSpc>
            </a:pPr>
            <a:r>
              <a:rPr lang="en-US" sz="3670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57667" y="1233764"/>
            <a:ext cx="12387167" cy="116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spc="325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DATA PROCESSING PIPELINE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274050" y="-2476003"/>
            <a:ext cx="2807256" cy="4128318"/>
          </a:xfrm>
          <a:custGeom>
            <a:avLst/>
            <a:gdLst/>
            <a:ahLst/>
            <a:cxnLst/>
            <a:rect r="r" b="b" t="t" l="l"/>
            <a:pathLst>
              <a:path h="4128318" w="2807256">
                <a:moveTo>
                  <a:pt x="0" y="0"/>
                </a:moveTo>
                <a:lnTo>
                  <a:pt x="2807256" y="0"/>
                </a:lnTo>
                <a:lnTo>
                  <a:pt x="2807256" y="4128319"/>
                </a:lnTo>
                <a:lnTo>
                  <a:pt x="0" y="41283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39114" y="4508910"/>
            <a:ext cx="1138755" cy="0"/>
          </a:xfrm>
          <a:prstGeom prst="line">
            <a:avLst/>
          </a:prstGeom>
          <a:ln cap="flat" w="47625">
            <a:solidFill>
              <a:srgbClr val="15374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" id="5"/>
          <p:cNvGrpSpPr/>
          <p:nvPr/>
        </p:nvGrpSpPr>
        <p:grpSpPr>
          <a:xfrm rot="0">
            <a:off x="1937912" y="3874320"/>
            <a:ext cx="2601203" cy="1269180"/>
            <a:chOff x="0" y="0"/>
            <a:chExt cx="673601" cy="3286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3601" cy="328664"/>
            </a:xfrm>
            <a:custGeom>
              <a:avLst/>
              <a:gdLst/>
              <a:ahLst/>
              <a:cxnLst/>
              <a:rect r="r" b="b" t="t" l="l"/>
              <a:pathLst>
                <a:path h="328664" w="673601">
                  <a:moveTo>
                    <a:pt x="0" y="0"/>
                  </a:moveTo>
                  <a:lnTo>
                    <a:pt x="673601" y="0"/>
                  </a:lnTo>
                  <a:lnTo>
                    <a:pt x="673601" y="328664"/>
                  </a:lnTo>
                  <a:lnTo>
                    <a:pt x="0" y="3286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53743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673601" cy="3572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2"/>
                </a:lnSpc>
              </a:pPr>
            </a:p>
            <a:p>
              <a:pPr algn="ctr">
                <a:lnSpc>
                  <a:spcPts val="215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77870" y="3874320"/>
            <a:ext cx="2902820" cy="1269180"/>
            <a:chOff x="0" y="0"/>
            <a:chExt cx="751707" cy="3286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707" cy="328664"/>
            </a:xfrm>
            <a:custGeom>
              <a:avLst/>
              <a:gdLst/>
              <a:ahLst/>
              <a:cxnLst/>
              <a:rect r="r" b="b" t="t" l="l"/>
              <a:pathLst>
                <a:path h="328664" w="751707">
                  <a:moveTo>
                    <a:pt x="0" y="0"/>
                  </a:moveTo>
                  <a:lnTo>
                    <a:pt x="751707" y="0"/>
                  </a:lnTo>
                  <a:lnTo>
                    <a:pt x="751707" y="328664"/>
                  </a:lnTo>
                  <a:lnTo>
                    <a:pt x="0" y="3286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5374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751707" cy="3572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2"/>
                </a:lnSpc>
              </a:pPr>
            </a:p>
            <a:p>
              <a:pPr algn="ctr">
                <a:lnSpc>
                  <a:spcPts val="2152"/>
                </a:lnSpc>
              </a:pPr>
            </a:p>
            <a:p>
              <a:pPr algn="ctr">
                <a:lnSpc>
                  <a:spcPts val="2152"/>
                </a:lnSpc>
              </a:pPr>
            </a:p>
            <a:p>
              <a:pPr algn="ctr">
                <a:lnSpc>
                  <a:spcPts val="2152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76791" y="3788923"/>
            <a:ext cx="2923445" cy="1255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8"/>
              </a:lnSpc>
            </a:pPr>
            <a:r>
              <a:rPr lang="en-US" b="true" sz="2835">
                <a:solidFill>
                  <a:srgbClr val="251C1C"/>
                </a:solidFill>
                <a:latin typeface="Livvic Bold"/>
                <a:ea typeface="Livvic Bold"/>
                <a:cs typeface="Livvic Bold"/>
                <a:sym typeface="Livvic Bold"/>
              </a:rPr>
              <a:t>Signal Conditioning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77870" y="3860374"/>
            <a:ext cx="2923445" cy="1255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8"/>
              </a:lnSpc>
            </a:pPr>
            <a:r>
              <a:rPr lang="en-US" b="true" sz="2835">
                <a:solidFill>
                  <a:srgbClr val="251C1C"/>
                </a:solidFill>
                <a:latin typeface="Livvic Bold"/>
                <a:ea typeface="Livvic Bold"/>
                <a:cs typeface="Livvic Bold"/>
                <a:sym typeface="Livvic Bold"/>
              </a:rPr>
              <a:t>R-Peak &amp; HRV Analysis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2378814" y="4508910"/>
            <a:ext cx="762348" cy="0"/>
          </a:xfrm>
          <a:prstGeom prst="line">
            <a:avLst/>
          </a:prstGeom>
          <a:ln cap="flat" w="47625">
            <a:solidFill>
              <a:srgbClr val="15374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9453999" y="3874320"/>
            <a:ext cx="2924815" cy="1269180"/>
            <a:chOff x="0" y="0"/>
            <a:chExt cx="757403" cy="3286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7403" cy="328664"/>
            </a:xfrm>
            <a:custGeom>
              <a:avLst/>
              <a:gdLst/>
              <a:ahLst/>
              <a:cxnLst/>
              <a:rect r="r" b="b" t="t" l="l"/>
              <a:pathLst>
                <a:path h="328664" w="757403">
                  <a:moveTo>
                    <a:pt x="0" y="0"/>
                  </a:moveTo>
                  <a:lnTo>
                    <a:pt x="757403" y="0"/>
                  </a:lnTo>
                  <a:lnTo>
                    <a:pt x="757403" y="328664"/>
                  </a:lnTo>
                  <a:lnTo>
                    <a:pt x="0" y="3286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53743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757403" cy="3572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2"/>
                </a:lnSpc>
              </a:pPr>
            </a:p>
            <a:p>
              <a:pPr algn="ctr">
                <a:lnSpc>
                  <a:spcPts val="2152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141163" y="3814432"/>
            <a:ext cx="2795384" cy="1269180"/>
            <a:chOff x="0" y="0"/>
            <a:chExt cx="723886" cy="3286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3886" cy="328664"/>
            </a:xfrm>
            <a:custGeom>
              <a:avLst/>
              <a:gdLst/>
              <a:ahLst/>
              <a:cxnLst/>
              <a:rect r="r" b="b" t="t" l="l"/>
              <a:pathLst>
                <a:path h="328664" w="723886">
                  <a:moveTo>
                    <a:pt x="0" y="0"/>
                  </a:moveTo>
                  <a:lnTo>
                    <a:pt x="723886" y="0"/>
                  </a:lnTo>
                  <a:lnTo>
                    <a:pt x="723886" y="328664"/>
                  </a:lnTo>
                  <a:lnTo>
                    <a:pt x="0" y="3286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53743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723886" cy="3572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2"/>
                </a:lnSpc>
              </a:pPr>
            </a:p>
            <a:p>
              <a:pPr algn="ctr">
                <a:lnSpc>
                  <a:spcPts val="2152"/>
                </a:lnSpc>
              </a:pPr>
            </a:p>
            <a:p>
              <a:pPr algn="ctr">
                <a:lnSpc>
                  <a:spcPts val="2152"/>
                </a:lnSpc>
              </a:pPr>
            </a:p>
            <a:p>
              <a:pPr algn="ctr">
                <a:lnSpc>
                  <a:spcPts val="2152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877563" y="4127067"/>
            <a:ext cx="2077688" cy="59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6"/>
              </a:lnSpc>
            </a:pPr>
            <a:r>
              <a:rPr lang="en-US" b="true" sz="2829">
                <a:solidFill>
                  <a:srgbClr val="251C1C"/>
                </a:solidFill>
                <a:latin typeface="Livvic Bold"/>
                <a:ea typeface="Livvic Bold"/>
                <a:cs typeface="Livvic Bold"/>
                <a:sym typeface="Livvic Bold"/>
              </a:rPr>
              <a:t> Labeling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60263" y="3702870"/>
            <a:ext cx="2099405" cy="1255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8"/>
              </a:lnSpc>
            </a:pPr>
            <a:r>
              <a:rPr lang="en-US" b="true" sz="2835">
                <a:solidFill>
                  <a:srgbClr val="251C1C"/>
                </a:solidFill>
                <a:latin typeface="Livvic Bold"/>
                <a:ea typeface="Livvic Bold"/>
                <a:cs typeface="Livvic Bold"/>
                <a:sym typeface="Livvic Bold"/>
              </a:rPr>
              <a:t>Feature Extraction</a:t>
            </a:r>
          </a:p>
        </p:txBody>
      </p:sp>
      <p:sp>
        <p:nvSpPr>
          <p:cNvPr name="AutoShape 22" id="22"/>
          <p:cNvSpPr/>
          <p:nvPr/>
        </p:nvSpPr>
        <p:spPr>
          <a:xfrm>
            <a:off x="8580690" y="4573795"/>
            <a:ext cx="873309" cy="0"/>
          </a:xfrm>
          <a:prstGeom prst="line">
            <a:avLst/>
          </a:prstGeom>
          <a:ln cap="flat" w="47625">
            <a:solidFill>
              <a:srgbClr val="153743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74050" y="-2476003"/>
            <a:ext cx="2807256" cy="4128318"/>
          </a:xfrm>
          <a:custGeom>
            <a:avLst/>
            <a:gdLst/>
            <a:ahLst/>
            <a:cxnLst/>
            <a:rect r="r" b="b" t="t" l="l"/>
            <a:pathLst>
              <a:path h="4128318" w="2807256">
                <a:moveTo>
                  <a:pt x="0" y="0"/>
                </a:moveTo>
                <a:lnTo>
                  <a:pt x="2807256" y="0"/>
                </a:lnTo>
                <a:lnTo>
                  <a:pt x="2807256" y="4128319"/>
                </a:lnTo>
                <a:lnTo>
                  <a:pt x="0" y="41283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52732" y="4959343"/>
            <a:ext cx="10783991" cy="5122396"/>
          </a:xfrm>
          <a:custGeom>
            <a:avLst/>
            <a:gdLst/>
            <a:ahLst/>
            <a:cxnLst/>
            <a:rect r="r" b="b" t="t" l="l"/>
            <a:pathLst>
              <a:path h="5122396" w="10783991">
                <a:moveTo>
                  <a:pt x="0" y="0"/>
                </a:moveTo>
                <a:lnTo>
                  <a:pt x="10783992" y="0"/>
                </a:lnTo>
                <a:lnTo>
                  <a:pt x="10783992" y="5122396"/>
                </a:lnTo>
                <a:lnTo>
                  <a:pt x="0" y="51223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t="-31947" r="-9929" b="-1300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87363"/>
            <a:ext cx="12714878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spc="25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1.SIGNAL LOADING AND CONDITIONING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1017" y="1838312"/>
            <a:ext cx="17927887" cy="349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mne.io.re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ad_raw_edf: For reading medical-grade EDF data.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raw.pick(['EKG']): To focus exclusively on the electrocardiogram signal.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raw.filter(0.5, 40.0): Applied a Bandpass Filter to eliminate baseline wander and high-frequency powerline noise.</a:t>
            </a:r>
          </a:p>
          <a:p>
            <a:pPr algn="l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87363"/>
            <a:ext cx="14648978" cy="180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spc="25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2.HEARTBEAT DETECTION AND RESAMPLING</a:t>
            </a:r>
          </a:p>
          <a:p>
            <a:pPr algn="ctr">
              <a:lnSpc>
                <a:spcPts val="700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855672" y="-2656706"/>
            <a:ext cx="2807256" cy="4128318"/>
          </a:xfrm>
          <a:custGeom>
            <a:avLst/>
            <a:gdLst/>
            <a:ahLst/>
            <a:cxnLst/>
            <a:rect r="r" b="b" t="t" l="l"/>
            <a:pathLst>
              <a:path h="4128318" w="2807256">
                <a:moveTo>
                  <a:pt x="0" y="0"/>
                </a:moveTo>
                <a:lnTo>
                  <a:pt x="2807256" y="0"/>
                </a:lnTo>
                <a:lnTo>
                  <a:pt x="2807256" y="4128318"/>
                </a:lnTo>
                <a:lnTo>
                  <a:pt x="0" y="4128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1017" y="1838312"/>
            <a:ext cx="17676983" cy="702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 Located R-peaks, calculated Inter-Beat Intervals (IBI), and handled physiological outliers to create a uniform heart rate signal.</a:t>
            </a:r>
          </a:p>
          <a:p>
            <a:pPr algn="l">
              <a:lnSpc>
                <a:spcPts val="5599"/>
              </a:lnSpc>
            </a:pP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mne.preprocessing.find_ecg_events: For automated R-peak detection.</a:t>
            </a:r>
          </a:p>
          <a:p>
            <a:pPr algn="l">
              <a:lnSpc>
                <a:spcPts val="5599"/>
              </a:lnSpc>
            </a:pP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scipy.signal.medfilt: Applied a </a:t>
            </a:r>
            <a:r>
              <a:rPr lang="en-US" b="true" sz="3999">
                <a:solidFill>
                  <a:srgbClr val="251C1C"/>
                </a:solidFill>
                <a:latin typeface="Livvic Bold"/>
                <a:ea typeface="Livvic Bold"/>
                <a:cs typeface="Livvic Bold"/>
                <a:sym typeface="Livvic Bold"/>
              </a:rPr>
              <a:t>Median Filter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 to remove outliers from the IBI sequence.</a:t>
            </a:r>
          </a:p>
          <a:p>
            <a:pPr algn="l">
              <a:lnSpc>
                <a:spcPts val="5599"/>
              </a:lnSpc>
            </a:pPr>
          </a:p>
          <a:p>
            <a:pPr algn="l">
              <a:lnSpc>
                <a:spcPts val="5599"/>
              </a:lnSpc>
            </a:pPr>
          </a:p>
          <a:p>
            <a:pPr algn="l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1025" y="3033213"/>
            <a:ext cx="16230600" cy="6670110"/>
          </a:xfrm>
          <a:custGeom>
            <a:avLst/>
            <a:gdLst/>
            <a:ahLst/>
            <a:cxnLst/>
            <a:rect r="r" b="b" t="t" l="l"/>
            <a:pathLst>
              <a:path h="6670110" w="16230600">
                <a:moveTo>
                  <a:pt x="0" y="0"/>
                </a:moveTo>
                <a:lnTo>
                  <a:pt x="16230600" y="0"/>
                </a:lnTo>
                <a:lnTo>
                  <a:pt x="16230600" y="6670109"/>
                </a:lnTo>
                <a:lnTo>
                  <a:pt x="0" y="66701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62" t="-37442" r="-7596" b="-1730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87363"/>
            <a:ext cx="14991303" cy="180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spc="25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2.HEARTBEAT DETECTION AND RESAMPLING</a:t>
            </a:r>
          </a:p>
          <a:p>
            <a:pPr algn="ctr">
              <a:lnSpc>
                <a:spcPts val="70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718882" y="1395412"/>
            <a:ext cx="17569118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scipy.interpolate.interp1d: Performed </a:t>
            </a:r>
            <a:r>
              <a:rPr lang="en-US" b="true" sz="3999">
                <a:solidFill>
                  <a:srgbClr val="251C1C"/>
                </a:solidFill>
                <a:latin typeface="Livvic Bold"/>
                <a:ea typeface="Livvic Bold"/>
                <a:cs typeface="Livvic Bold"/>
                <a:sym typeface="Livvic Bold"/>
              </a:rPr>
              <a:t>Linear Interpolation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 to convert irregular heartbeats into a continuous signal sampled at 4Hz.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1017" y="487363"/>
            <a:ext cx="17259300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sz="5000" spc="25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 30 SEC WINDOWING AND NORMALIZATION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855672" y="-2656706"/>
            <a:ext cx="2807256" cy="4128318"/>
          </a:xfrm>
          <a:custGeom>
            <a:avLst/>
            <a:gdLst/>
            <a:ahLst/>
            <a:cxnLst/>
            <a:rect r="r" b="b" t="t" l="l"/>
            <a:pathLst>
              <a:path h="4128318" w="2807256">
                <a:moveTo>
                  <a:pt x="0" y="0"/>
                </a:moveTo>
                <a:lnTo>
                  <a:pt x="2807256" y="0"/>
                </a:lnTo>
                <a:lnTo>
                  <a:pt x="2807256" y="4128318"/>
                </a:lnTo>
                <a:lnTo>
                  <a:pt x="0" y="4128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1017" y="1838312"/>
            <a:ext cx="17676983" cy="561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Divided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 the continuous 4Hz signal into 30-second windows (120 samples each) and standardized the data for each window.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 Manual Slicing (for loops): Segmented the signal into 30s epochs to match standard sleep staging protocols.</a:t>
            </a:r>
          </a:p>
          <a:p>
            <a:pPr algn="l">
              <a:lnSpc>
                <a:spcPts val="5599"/>
              </a:lnSpc>
            </a:pP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numpy.mean &amp; numpy.std: Applied </a:t>
            </a:r>
            <a:r>
              <a:rPr lang="en-US" b="true" sz="3999">
                <a:solidFill>
                  <a:srgbClr val="251C1C"/>
                </a:solidFill>
                <a:latin typeface="Livvic Bold"/>
                <a:ea typeface="Livvic Bold"/>
                <a:cs typeface="Livvic Bold"/>
                <a:sym typeface="Livvic Bold"/>
              </a:rPr>
              <a:t>Z-score Normalization per window 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to ensure the model focuses on morphological patterns rather than amplitude variations.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87363"/>
            <a:ext cx="15724282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sz="5000" spc="25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 FREQUENCY-DOMAIN FEATURE EXTRACTION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752982" y="-2476003"/>
            <a:ext cx="2807256" cy="4128318"/>
          </a:xfrm>
          <a:custGeom>
            <a:avLst/>
            <a:gdLst/>
            <a:ahLst/>
            <a:cxnLst/>
            <a:rect r="r" b="b" t="t" l="l"/>
            <a:pathLst>
              <a:path h="4128318" w="2807256">
                <a:moveTo>
                  <a:pt x="0" y="0"/>
                </a:moveTo>
                <a:lnTo>
                  <a:pt x="2807256" y="0"/>
                </a:lnTo>
                <a:lnTo>
                  <a:pt x="2807256" y="4128319"/>
                </a:lnTo>
                <a:lnTo>
                  <a:pt x="0" y="41283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5508" y="1576116"/>
            <a:ext cx="17982492" cy="702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scipy.signal.welch: Calculated the </a:t>
            </a:r>
            <a:r>
              <a:rPr lang="en-US" b="true" sz="3999">
                <a:solidFill>
                  <a:srgbClr val="251C1C"/>
                </a:solidFill>
                <a:latin typeface="Livvic Bold"/>
                <a:ea typeface="Livvic Bold"/>
                <a:cs typeface="Livvic Bold"/>
                <a:sym typeface="Livvic Bold"/>
              </a:rPr>
              <a:t>Power Spectral Density (PSD)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 to transform the signal from the time domain to the frequency domain.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scipy.integrate.trapezoid: Performed integration to compute Low Frequency (LF) ,High Frequency (HF) power,Normalized Units (nu) to represent the relative balance of the autonomic nervous system, independent of total power variations.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</a:p>
          <a:p>
            <a:pPr algn="l">
              <a:lnSpc>
                <a:spcPts val="5599"/>
              </a:lnSpc>
            </a:pPr>
          </a:p>
          <a:p>
            <a:pPr algn="l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87363"/>
            <a:ext cx="15724282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sz="5000" spc="25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ANNOTATION PARSING &amp; LABELING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102066" y="-2213806"/>
            <a:ext cx="2807256" cy="4128318"/>
          </a:xfrm>
          <a:custGeom>
            <a:avLst/>
            <a:gdLst/>
            <a:ahLst/>
            <a:cxnLst/>
            <a:rect r="r" b="b" t="t" l="l"/>
            <a:pathLst>
              <a:path h="4128318" w="2807256">
                <a:moveTo>
                  <a:pt x="0" y="0"/>
                </a:moveTo>
                <a:lnTo>
                  <a:pt x="2807256" y="0"/>
                </a:lnTo>
                <a:lnTo>
                  <a:pt x="2807256" y="4128318"/>
                </a:lnTo>
                <a:lnTo>
                  <a:pt x="0" y="4128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1017" y="1838312"/>
            <a:ext cx="17676983" cy="561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Ex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tracted sleep st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age from XML files and synchronized it with the segmented windows.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xml.etree.ElementTree (ET): Parsed XML files to extract event concepts, start times, and durations.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Dictionary Mapping: Converted text labels ('Wake', 'Stage 1',..) into numerical values for the classifier.</a:t>
            </a:r>
          </a:p>
          <a:p>
            <a:pPr algn="l">
              <a:lnSpc>
                <a:spcPts val="5599"/>
              </a:lnSpc>
            </a:pPr>
          </a:p>
          <a:p>
            <a:pPr algn="l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87363"/>
            <a:ext cx="15724282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sz="5000" spc="25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FINAL FORMATTING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102066" y="-2213806"/>
            <a:ext cx="2807256" cy="4128318"/>
          </a:xfrm>
          <a:custGeom>
            <a:avLst/>
            <a:gdLst/>
            <a:ahLst/>
            <a:cxnLst/>
            <a:rect r="r" b="b" t="t" l="l"/>
            <a:pathLst>
              <a:path h="4128318" w="2807256">
                <a:moveTo>
                  <a:pt x="0" y="0"/>
                </a:moveTo>
                <a:lnTo>
                  <a:pt x="2807256" y="0"/>
                </a:lnTo>
                <a:lnTo>
                  <a:pt x="2807256" y="4128318"/>
                </a:lnTo>
                <a:lnTo>
                  <a:pt x="0" y="4128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1017" y="1838312"/>
            <a:ext cx="17676983" cy="279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251C1C"/>
                </a:solidFill>
                <a:latin typeface="Livvic Bold"/>
                <a:ea typeface="Livvic Bold"/>
                <a:cs typeface="Livvic Bold"/>
                <a:sym typeface="Livvic Bold"/>
              </a:rPr>
              <a:t>numpy.expand_dims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: Adjusted array shapes to be compatible with Temporal Models (adding a channel dimension for CNNs/LSTMs).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251C1C"/>
                </a:solidFill>
                <a:latin typeface="Livvic Bold"/>
                <a:ea typeface="Livvic Bold"/>
                <a:cs typeface="Livvic Bold"/>
                <a:sym typeface="Livvic Bold"/>
              </a:rPr>
              <a:t>numpy.save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: Exported the final signals, features, and labels as .npy files for efficient loading during training.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220971" y="5514710"/>
            <a:ext cx="11846059" cy="2927474"/>
          </a:xfrm>
          <a:custGeom>
            <a:avLst/>
            <a:gdLst/>
            <a:ahLst/>
            <a:cxnLst/>
            <a:rect r="r" b="b" t="t" l="l"/>
            <a:pathLst>
              <a:path h="2927474" w="11846059">
                <a:moveTo>
                  <a:pt x="0" y="0"/>
                </a:moveTo>
                <a:lnTo>
                  <a:pt x="11846058" y="0"/>
                </a:lnTo>
                <a:lnTo>
                  <a:pt x="11846058" y="2927475"/>
                </a:lnTo>
                <a:lnTo>
                  <a:pt x="0" y="2927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270" t="-230016" r="-88229" b="-194639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1017" y="487363"/>
            <a:ext cx="17259300" cy="180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sz="5000" spc="25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DATA BALANCING &amp; AUGMENTATION </a:t>
            </a:r>
          </a:p>
          <a:p>
            <a:pPr algn="l">
              <a:lnSpc>
                <a:spcPts val="7000"/>
              </a:lnSpc>
            </a:pPr>
            <a:r>
              <a:rPr lang="en-US" sz="5000" spc="25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FEATURE FUSION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855672" y="-2656706"/>
            <a:ext cx="2807256" cy="4128318"/>
          </a:xfrm>
          <a:custGeom>
            <a:avLst/>
            <a:gdLst/>
            <a:ahLst/>
            <a:cxnLst/>
            <a:rect r="r" b="b" t="t" l="l"/>
            <a:pathLst>
              <a:path h="4128318" w="2807256">
                <a:moveTo>
                  <a:pt x="0" y="0"/>
                </a:moveTo>
                <a:lnTo>
                  <a:pt x="2807256" y="0"/>
                </a:lnTo>
                <a:lnTo>
                  <a:pt x="2807256" y="4128318"/>
                </a:lnTo>
                <a:lnTo>
                  <a:pt x="0" y="4128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0067" y="2445896"/>
            <a:ext cx="17676983" cy="42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Flattened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 the 3D signal arrays and horizontally stacked them with the handcrafted HRV features to create a combined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 feature vector.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numpy.reshape: To flatten the signal dimensions.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numpy.hstack: T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o 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c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om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b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in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e temporal signals and statistical features into one input matrix.</a:t>
            </a:r>
          </a:p>
          <a:p>
            <a:pPr algn="l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1017" y="487363"/>
            <a:ext cx="17259300" cy="180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sz="5000" spc="25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DATA BALANCING &amp; AUGMENTATION </a:t>
            </a:r>
          </a:p>
          <a:p>
            <a:pPr algn="l">
              <a:lnSpc>
                <a:spcPts val="7000"/>
              </a:lnSpc>
            </a:pPr>
            <a:r>
              <a:rPr lang="en-US" sz="5000" spc="25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STRATIFIED SPLITTING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855672" y="-2656706"/>
            <a:ext cx="2807256" cy="4128318"/>
          </a:xfrm>
          <a:custGeom>
            <a:avLst/>
            <a:gdLst/>
            <a:ahLst/>
            <a:cxnLst/>
            <a:rect r="r" b="b" t="t" l="l"/>
            <a:pathLst>
              <a:path h="4128318" w="2807256">
                <a:moveTo>
                  <a:pt x="0" y="0"/>
                </a:moveTo>
                <a:lnTo>
                  <a:pt x="2807256" y="0"/>
                </a:lnTo>
                <a:lnTo>
                  <a:pt x="2807256" y="4128318"/>
                </a:lnTo>
                <a:lnTo>
                  <a:pt x="0" y="4128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1017" y="2557195"/>
            <a:ext cx="17676983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Divided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 the data into 70% Training, 15% Validation, and 15% Testing. Used stratification to ensure that the percentage of each sleep stage remains consistent across all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 sets.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Tools: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sklearn.model_selection.train_test_split: To create the three independent datasets wh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il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e maintaining class balance using the stratify parameter.</a:t>
            </a:r>
          </a:p>
          <a:p>
            <a:pPr algn="l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1017" y="487363"/>
            <a:ext cx="17259300" cy="180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sz="5000" spc="25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DATA BALANCING &amp; AUGMENTATION </a:t>
            </a:r>
          </a:p>
          <a:p>
            <a:pPr algn="l">
              <a:lnSpc>
                <a:spcPts val="7000"/>
              </a:lnSpc>
            </a:pPr>
            <a:r>
              <a:rPr lang="en-US" sz="5000" spc="25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CLASS BALANCING (SMOTE)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855672" y="-2656706"/>
            <a:ext cx="2807256" cy="4128318"/>
          </a:xfrm>
          <a:custGeom>
            <a:avLst/>
            <a:gdLst/>
            <a:ahLst/>
            <a:cxnLst/>
            <a:rect r="r" b="b" t="t" l="l"/>
            <a:pathLst>
              <a:path h="4128318" w="2807256">
                <a:moveTo>
                  <a:pt x="0" y="0"/>
                </a:moveTo>
                <a:lnTo>
                  <a:pt x="2807256" y="0"/>
                </a:lnTo>
                <a:lnTo>
                  <a:pt x="2807256" y="4128318"/>
                </a:lnTo>
                <a:lnTo>
                  <a:pt x="0" y="4128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1017" y="2557195"/>
            <a:ext cx="17676983" cy="42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Applied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 the Synthetic Minority Over-sampling Technique (SMOTE) only to the training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 set to resolve the imbalance between sleep stages (e.g., more Wake samples than Stage 1.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imblearn.over_sampling.SMOTE: To generate new, synthetic training samples based on the nearest neighbors of the minority classes.</a:t>
            </a:r>
          </a:p>
          <a:p>
            <a:pPr algn="l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1017" y="487363"/>
            <a:ext cx="17259300" cy="180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sz="5000" spc="25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DATA BALANCING &amp; AUGMENTATION </a:t>
            </a:r>
          </a:p>
          <a:p>
            <a:pPr algn="l">
              <a:lnSpc>
                <a:spcPts val="7000"/>
              </a:lnSpc>
            </a:pPr>
            <a:r>
              <a:rPr lang="en-US" sz="5000" spc="25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SYNTHETIC SIGNAL SMOOTHING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855672" y="-2656706"/>
            <a:ext cx="2807256" cy="4128318"/>
          </a:xfrm>
          <a:custGeom>
            <a:avLst/>
            <a:gdLst/>
            <a:ahLst/>
            <a:cxnLst/>
            <a:rect r="r" b="b" t="t" l="l"/>
            <a:pathLst>
              <a:path h="4128318" w="2807256">
                <a:moveTo>
                  <a:pt x="0" y="0"/>
                </a:moveTo>
                <a:lnTo>
                  <a:pt x="2807256" y="0"/>
                </a:lnTo>
                <a:lnTo>
                  <a:pt x="2807256" y="4128318"/>
                </a:lnTo>
                <a:lnTo>
                  <a:pt x="0" y="4128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1017" y="2557195"/>
            <a:ext cx="17676983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To ensure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 the newly generated (synthetic) signals are physically plausible, a moving averag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e filter was applied specifically to the samples created by SMOTE.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numpy.convolve: Applied a mathematical convolution with a uniform kernel (ones(5)/5) to smooth out any sharp edges or noise in the synthetic ECG signals.</a:t>
            </a:r>
          </a:p>
          <a:p>
            <a:pPr algn="l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1017" y="487363"/>
            <a:ext cx="17259300" cy="180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sz="5000" spc="25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DATA BALANCING </a:t>
            </a:r>
          </a:p>
          <a:p>
            <a:pPr algn="l">
              <a:lnSpc>
                <a:spcPts val="7000"/>
              </a:lnSpc>
            </a:pPr>
            <a:r>
              <a:rPr lang="en-US" sz="5000" spc="25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 TEMPORAL MULTI-INPUT RECONSTRUCTION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855672" y="-2656706"/>
            <a:ext cx="2807256" cy="4128318"/>
          </a:xfrm>
          <a:custGeom>
            <a:avLst/>
            <a:gdLst/>
            <a:ahLst/>
            <a:cxnLst/>
            <a:rect r="r" b="b" t="t" l="l"/>
            <a:pathLst>
              <a:path h="4128318" w="2807256">
                <a:moveTo>
                  <a:pt x="0" y="0"/>
                </a:moveTo>
                <a:lnTo>
                  <a:pt x="2807256" y="0"/>
                </a:lnTo>
                <a:lnTo>
                  <a:pt x="2807256" y="4128318"/>
                </a:lnTo>
                <a:lnTo>
                  <a:pt x="0" y="4128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1017" y="2557195"/>
            <a:ext cx="17676983" cy="561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Separated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 the combined data back into signals and features, then concatenated them into a final 3D format suitable for temporal models.</a:t>
            </a:r>
          </a:p>
          <a:p>
            <a:pPr algn="l">
              <a:lnSpc>
                <a:spcPts val="5599"/>
              </a:lnSpc>
            </a:pP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Custom Python Function (process_back): To accurat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ely slice and reshape the signals (120 samples) and features.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numpy.concatenate: To merge the 2D features into the signal's time-steps, creating the final input for the Deep Learning model.</a:t>
            </a:r>
          </a:p>
          <a:p>
            <a:pPr algn="l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1017" y="487363"/>
            <a:ext cx="17259300" cy="180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sz="5000" spc="25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DATA BALANCING </a:t>
            </a:r>
          </a:p>
          <a:p>
            <a:pPr algn="l">
              <a:lnSpc>
                <a:spcPts val="7000"/>
              </a:lnSpc>
            </a:pPr>
            <a:r>
              <a:rPr lang="en-US" sz="5000" spc="25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 TEMPORAL MULTI-INPUT RECONSTRUCTION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855672" y="-2656706"/>
            <a:ext cx="2807256" cy="4128318"/>
          </a:xfrm>
          <a:custGeom>
            <a:avLst/>
            <a:gdLst/>
            <a:ahLst/>
            <a:cxnLst/>
            <a:rect r="r" b="b" t="t" l="l"/>
            <a:pathLst>
              <a:path h="4128318" w="2807256">
                <a:moveTo>
                  <a:pt x="0" y="0"/>
                </a:moveTo>
                <a:lnTo>
                  <a:pt x="2807256" y="0"/>
                </a:lnTo>
                <a:lnTo>
                  <a:pt x="2807256" y="4128318"/>
                </a:lnTo>
                <a:lnTo>
                  <a:pt x="0" y="4128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1017" y="2557195"/>
            <a:ext cx="17676983" cy="561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Separated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 the combined data back into signals and features, then concatenated them into a final 3D format suitable for temporal models.</a:t>
            </a:r>
          </a:p>
          <a:p>
            <a:pPr algn="l">
              <a:lnSpc>
                <a:spcPts val="5599"/>
              </a:lnSpc>
            </a:pP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Custom Python Function (process_back): To accurat</a:t>
            </a: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ely slice and reshape the signals (120 samples) and features.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51C1C"/>
                </a:solidFill>
                <a:latin typeface="Livvic"/>
                <a:ea typeface="Livvic"/>
                <a:cs typeface="Livvic"/>
                <a:sym typeface="Livvic"/>
              </a:rPr>
              <a:t>numpy.concatenate: To merge the 2D features into the signal's time-steps, creating the final input for the Deep Learning model.</a:t>
            </a: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796582" y="7765835"/>
            <a:ext cx="10778910" cy="1492465"/>
          </a:xfrm>
          <a:custGeom>
            <a:avLst/>
            <a:gdLst/>
            <a:ahLst/>
            <a:cxnLst/>
            <a:rect r="r" b="b" t="t" l="l"/>
            <a:pathLst>
              <a:path h="1492465" w="10778910">
                <a:moveTo>
                  <a:pt x="0" y="0"/>
                </a:moveTo>
                <a:lnTo>
                  <a:pt x="10778911" y="0"/>
                </a:lnTo>
                <a:lnTo>
                  <a:pt x="10778911" y="1492465"/>
                </a:lnTo>
                <a:lnTo>
                  <a:pt x="0" y="14924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4473" t="-712851" r="-104834" b="-199964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5061" y="-3443776"/>
            <a:ext cx="2807256" cy="4128318"/>
          </a:xfrm>
          <a:custGeom>
            <a:avLst/>
            <a:gdLst/>
            <a:ahLst/>
            <a:cxnLst/>
            <a:rect r="r" b="b" t="t" l="l"/>
            <a:pathLst>
              <a:path h="4128318" w="2807256">
                <a:moveTo>
                  <a:pt x="0" y="0"/>
                </a:moveTo>
                <a:lnTo>
                  <a:pt x="2807256" y="0"/>
                </a:lnTo>
                <a:lnTo>
                  <a:pt x="2807256" y="4128318"/>
                </a:lnTo>
                <a:lnTo>
                  <a:pt x="0" y="4128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0207" y="2263759"/>
            <a:ext cx="17567586" cy="734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8"/>
              </a:lnSpc>
            </a:pP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Capturing Sleep Dynamics:</a:t>
            </a:r>
          </a:p>
          <a:p>
            <a:pPr algn="l" marL="1003724" indent="-501862" lvl="1">
              <a:lnSpc>
                <a:spcPts val="6508"/>
              </a:lnSpc>
              <a:buFont typeface="Arial"/>
              <a:buChar char="•"/>
            </a:pP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Sequential Loading: Processes 5 consecutive windows (150 seconds) instead of a single epoch to capture sleep stage transitions.</a:t>
            </a:r>
          </a:p>
          <a:p>
            <a:pPr algn="l" marL="1003724" indent="-501862" lvl="1">
              <a:lnSpc>
                <a:spcPts val="6508"/>
              </a:lnSpc>
              <a:buFont typeface="Arial"/>
              <a:buChar char="•"/>
            </a:pP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Targeting: The model predicts the stage of the last window based on the context of the previous four.</a:t>
            </a:r>
          </a:p>
          <a:p>
            <a:pPr algn="l" marL="1003724" indent="-501862" lvl="1">
              <a:lnSpc>
                <a:spcPts val="6508"/>
              </a:lnSpc>
              <a:buFont typeface="Arial"/>
              <a:buChar char="•"/>
            </a:pP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Input Shape: (Batch, 5, 1, 120) – representing a sequence of 5 IHR signal segments.</a:t>
            </a:r>
          </a:p>
          <a:p>
            <a:pPr algn="l">
              <a:lnSpc>
                <a:spcPts val="650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-2952402" y="980438"/>
            <a:ext cx="15013199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spc="274">
                <a:solidFill>
                  <a:srgbClr val="FEFEFE"/>
                </a:solidFill>
                <a:latin typeface="Adumu Regular"/>
                <a:ea typeface="Adumu Regular"/>
                <a:cs typeface="Adumu Regular"/>
                <a:sym typeface="Adumu Regular"/>
              </a:rPr>
              <a:t>Temporal</a:t>
            </a:r>
            <a:r>
              <a:rPr lang="en-US" sz="5499" spc="274">
                <a:solidFill>
                  <a:srgbClr val="FEFEFE"/>
                </a:solidFill>
                <a:latin typeface="Adumu Regular"/>
                <a:ea typeface="Adumu Regular"/>
                <a:cs typeface="Adumu Regular"/>
                <a:sym typeface="Adumu Regular"/>
              </a:rPr>
              <a:t> WINDOWING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5061" y="847725"/>
            <a:ext cx="17712732" cy="116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spc="325">
                <a:solidFill>
                  <a:srgbClr val="FEFEFE"/>
                </a:solidFill>
                <a:latin typeface="Adumu Regular"/>
                <a:ea typeface="Adumu Regular"/>
                <a:cs typeface="Adumu Regular"/>
                <a:sym typeface="Adumu Regular"/>
              </a:rPr>
              <a:t>Hybrid Model</a:t>
            </a:r>
            <a:r>
              <a:rPr lang="en-US" sz="6500" spc="325">
                <a:solidFill>
                  <a:srgbClr val="FEFEFE"/>
                </a:solidFill>
                <a:latin typeface="Adumu Regular"/>
                <a:ea typeface="Adumu Regular"/>
                <a:cs typeface="Adumu Regular"/>
                <a:sym typeface="Adumu Regular"/>
              </a:rPr>
              <a:t> ARCHITECTURE (CNN-LSTM)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15061" y="-3443776"/>
            <a:ext cx="2807256" cy="4128318"/>
          </a:xfrm>
          <a:custGeom>
            <a:avLst/>
            <a:gdLst/>
            <a:ahLst/>
            <a:cxnLst/>
            <a:rect r="r" b="b" t="t" l="l"/>
            <a:pathLst>
              <a:path h="4128318" w="2807256">
                <a:moveTo>
                  <a:pt x="0" y="0"/>
                </a:moveTo>
                <a:lnTo>
                  <a:pt x="2807256" y="0"/>
                </a:lnTo>
                <a:lnTo>
                  <a:pt x="2807256" y="4128318"/>
                </a:lnTo>
                <a:lnTo>
                  <a:pt x="0" y="4128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0207" y="2263759"/>
            <a:ext cx="17567586" cy="898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3724" indent="-501862" lvl="1">
              <a:lnSpc>
                <a:spcPts val="6508"/>
              </a:lnSpc>
              <a:buFont typeface="Arial"/>
              <a:buChar char="•"/>
            </a:pP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Fea</a:t>
            </a: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ture Extraction (ResNet-1D): Uses</a:t>
            </a: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Residual Blocks</a:t>
            </a: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to extract deep morphological patterns from the IHR signal while preventing gradient vanishing.</a:t>
            </a:r>
          </a:p>
          <a:p>
            <a:pPr algn="l" marL="1003724" indent="-501862" lvl="1">
              <a:lnSpc>
                <a:spcPts val="6508"/>
              </a:lnSpc>
              <a:buFont typeface="Arial"/>
              <a:buChar char="•"/>
            </a:pP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Temporal Learning (Bi-LSTM): A 2-layer Bidirectional LSTM analyzes the sequence of extracted features to understand the "history" of the heart rate.</a:t>
            </a:r>
          </a:p>
          <a:p>
            <a:pPr algn="l" marL="1003724" indent="-501862" lvl="1">
              <a:lnSpc>
                <a:spcPts val="6508"/>
              </a:lnSpc>
              <a:buFont typeface="Arial"/>
              <a:buChar char="•"/>
            </a:pP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Decision Head: A Fully Connected layer with Softmax outputting probabilities for 5 sleep stages (Wake, N1, N2, N3, REM).</a:t>
            </a:r>
          </a:p>
          <a:p>
            <a:pPr algn="l">
              <a:lnSpc>
                <a:spcPts val="6508"/>
              </a:lnSpc>
            </a:pPr>
          </a:p>
          <a:p>
            <a:pPr algn="l">
              <a:lnSpc>
                <a:spcPts val="6508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5061" y="503567"/>
            <a:ext cx="15013199" cy="116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spc="325">
                <a:solidFill>
                  <a:srgbClr val="FEFEFE"/>
                </a:solidFill>
                <a:latin typeface="Adumu Regular"/>
                <a:ea typeface="Adumu Regular"/>
                <a:cs typeface="Adumu Regular"/>
                <a:sym typeface="Adumu Regular"/>
              </a:rPr>
              <a:t>T</a:t>
            </a:r>
            <a:r>
              <a:rPr lang="en-US" sz="6500" spc="325">
                <a:solidFill>
                  <a:srgbClr val="FEFEFE"/>
                </a:solidFill>
                <a:latin typeface="Adumu Regular"/>
                <a:ea typeface="Adumu Regular"/>
                <a:cs typeface="Adumu Regular"/>
                <a:sym typeface="Adumu Regular"/>
              </a:rPr>
              <a:t>RAINING &amp; OPTIMIZATION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15061" y="-3443776"/>
            <a:ext cx="2807256" cy="4128318"/>
          </a:xfrm>
          <a:custGeom>
            <a:avLst/>
            <a:gdLst/>
            <a:ahLst/>
            <a:cxnLst/>
            <a:rect r="r" b="b" t="t" l="l"/>
            <a:pathLst>
              <a:path h="4128318" w="2807256">
                <a:moveTo>
                  <a:pt x="0" y="0"/>
                </a:moveTo>
                <a:lnTo>
                  <a:pt x="2807256" y="0"/>
                </a:lnTo>
                <a:lnTo>
                  <a:pt x="2807256" y="4128318"/>
                </a:lnTo>
                <a:lnTo>
                  <a:pt x="0" y="4128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0207" y="1908785"/>
            <a:ext cx="17567586" cy="816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3724" indent="-501862" lvl="1">
              <a:lnSpc>
                <a:spcPts val="6508"/>
              </a:lnSpc>
              <a:buFont typeface="Arial"/>
              <a:buChar char="•"/>
            </a:pP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Optimizer: Adam (LR=0.0005) with Weight Decay to ensure stable learning and prevent overfitt</a:t>
            </a: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ing.</a:t>
            </a:r>
          </a:p>
          <a:p>
            <a:pPr algn="l" marL="1003724" indent="-501862" lvl="1">
              <a:lnSpc>
                <a:spcPts val="6508"/>
              </a:lnSpc>
              <a:buFont typeface="Arial"/>
              <a:buChar char="•"/>
            </a:pP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Dy</a:t>
            </a: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n</a:t>
            </a: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amic </a:t>
            </a: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Scaling: Reduc</a:t>
            </a: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eLROnPlat</a:t>
            </a: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eau</a:t>
            </a: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scheduler to decrease learning rate when performance plateaus.</a:t>
            </a:r>
          </a:p>
          <a:p>
            <a:pPr algn="l" marL="1003724" indent="-501862" lvl="1">
              <a:lnSpc>
                <a:spcPts val="6508"/>
              </a:lnSpc>
              <a:buFont typeface="Arial"/>
              <a:buChar char="•"/>
            </a:pP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Checkpointing: Automated saving of the "Best Model" based on peak Validation Accuracy.</a:t>
            </a:r>
          </a:p>
          <a:p>
            <a:pPr algn="l" marL="1003724" indent="-501862" lvl="1">
              <a:lnSpc>
                <a:spcPts val="6508"/>
              </a:lnSpc>
              <a:buFont typeface="Arial"/>
              <a:buChar char="•"/>
            </a:pPr>
            <a:r>
              <a:rPr lang="en-US" sz="4649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Goal: Achieving high generalization across different sleep cycles and subjects.</a:t>
            </a:r>
          </a:p>
          <a:p>
            <a:pPr algn="l">
              <a:lnSpc>
                <a:spcPts val="6508"/>
              </a:lnSpc>
            </a:pPr>
          </a:p>
          <a:p>
            <a:pPr algn="l">
              <a:lnSpc>
                <a:spcPts val="6508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5061" y="-3443776"/>
            <a:ext cx="2807256" cy="4128318"/>
          </a:xfrm>
          <a:custGeom>
            <a:avLst/>
            <a:gdLst/>
            <a:ahLst/>
            <a:cxnLst/>
            <a:rect r="r" b="b" t="t" l="l"/>
            <a:pathLst>
              <a:path h="4128318" w="2807256">
                <a:moveTo>
                  <a:pt x="0" y="0"/>
                </a:moveTo>
                <a:lnTo>
                  <a:pt x="2807256" y="0"/>
                </a:lnTo>
                <a:lnTo>
                  <a:pt x="2807256" y="4128318"/>
                </a:lnTo>
                <a:lnTo>
                  <a:pt x="0" y="4128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37285" y="2751904"/>
            <a:ext cx="14122958" cy="4216065"/>
          </a:xfrm>
          <a:custGeom>
            <a:avLst/>
            <a:gdLst/>
            <a:ahLst/>
            <a:cxnLst/>
            <a:rect r="r" b="b" t="t" l="l"/>
            <a:pathLst>
              <a:path h="4216065" w="14122958">
                <a:moveTo>
                  <a:pt x="0" y="0"/>
                </a:moveTo>
                <a:lnTo>
                  <a:pt x="14122958" y="0"/>
                </a:lnTo>
                <a:lnTo>
                  <a:pt x="14122958" y="4216065"/>
                </a:lnTo>
                <a:lnTo>
                  <a:pt x="0" y="42160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483" t="-175282" r="-60262" b="-10674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37285" y="8214547"/>
            <a:ext cx="8081560" cy="1520379"/>
          </a:xfrm>
          <a:custGeom>
            <a:avLst/>
            <a:gdLst/>
            <a:ahLst/>
            <a:cxnLst/>
            <a:rect r="r" b="b" t="t" l="l"/>
            <a:pathLst>
              <a:path h="1520379" w="8081560">
                <a:moveTo>
                  <a:pt x="0" y="0"/>
                </a:moveTo>
                <a:lnTo>
                  <a:pt x="8081559" y="0"/>
                </a:lnTo>
                <a:lnTo>
                  <a:pt x="8081559" y="1520379"/>
                </a:lnTo>
                <a:lnTo>
                  <a:pt x="0" y="15203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6628" t="-983369" r="-243997" b="-26398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5061" y="503567"/>
            <a:ext cx="15013199" cy="116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spc="325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T</a:t>
            </a:r>
            <a:r>
              <a:rPr lang="en-US" sz="6500" spc="325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RAINING &amp; OPTIMIZATION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5061" y="1802801"/>
            <a:ext cx="17567586" cy="13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98" indent="-426299" lvl="1">
              <a:lnSpc>
                <a:spcPts val="5528"/>
              </a:lnSpc>
              <a:buFont typeface="Arial"/>
              <a:buChar char="•"/>
            </a:pPr>
            <a:r>
              <a:rPr lang="en-US" b="true" sz="3949">
                <a:solidFill>
                  <a:srgbClr val="251C1C"/>
                </a:solidFill>
                <a:latin typeface="Livvic Bold"/>
                <a:ea typeface="Livvic Bold"/>
                <a:cs typeface="Livvic Bold"/>
                <a:sym typeface="Livvic Bold"/>
              </a:rPr>
              <a:t>Best Validation Accuracy: 63.6%</a:t>
            </a:r>
          </a:p>
          <a:p>
            <a:pPr algn="l">
              <a:lnSpc>
                <a:spcPts val="552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60207" y="7283634"/>
            <a:ext cx="6154156" cy="13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98" indent="-426299" lvl="1">
              <a:lnSpc>
                <a:spcPts val="5528"/>
              </a:lnSpc>
              <a:buFont typeface="Arial"/>
              <a:buChar char="•"/>
            </a:pPr>
            <a:r>
              <a:rPr lang="en-US" b="true" sz="3949">
                <a:solidFill>
                  <a:srgbClr val="251C1C"/>
                </a:solidFill>
                <a:latin typeface="Livvic Bold"/>
                <a:ea typeface="Livvic Bold"/>
                <a:cs typeface="Livvic Bold"/>
                <a:sym typeface="Livvic Bold"/>
              </a:rPr>
              <a:t>Test Accuracy: 63.6%</a:t>
            </a:r>
          </a:p>
          <a:p>
            <a:pPr algn="l">
              <a:lnSpc>
                <a:spcPts val="5528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14870" y="-3099618"/>
            <a:ext cx="2807256" cy="4128318"/>
          </a:xfrm>
          <a:custGeom>
            <a:avLst/>
            <a:gdLst/>
            <a:ahLst/>
            <a:cxnLst/>
            <a:rect r="r" b="b" t="t" l="l"/>
            <a:pathLst>
              <a:path h="4128318" w="2807256">
                <a:moveTo>
                  <a:pt x="0" y="0"/>
                </a:moveTo>
                <a:lnTo>
                  <a:pt x="2807256" y="0"/>
                </a:lnTo>
                <a:lnTo>
                  <a:pt x="2807256" y="4128318"/>
                </a:lnTo>
                <a:lnTo>
                  <a:pt x="0" y="4128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5497" y="679992"/>
            <a:ext cx="10607807" cy="9397791"/>
          </a:xfrm>
          <a:custGeom>
            <a:avLst/>
            <a:gdLst/>
            <a:ahLst/>
            <a:cxnLst/>
            <a:rect r="r" b="b" t="t" l="l"/>
            <a:pathLst>
              <a:path h="9397791" w="10607807">
                <a:moveTo>
                  <a:pt x="0" y="0"/>
                </a:moveTo>
                <a:lnTo>
                  <a:pt x="10607807" y="0"/>
                </a:lnTo>
                <a:lnTo>
                  <a:pt x="10607807" y="9397791"/>
                </a:lnTo>
                <a:lnTo>
                  <a:pt x="0" y="9397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323304" y="1773384"/>
            <a:ext cx="7383130" cy="180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spc="25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FINAL CONFUSION MATRIX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5061" y="-3443776"/>
            <a:ext cx="3041284" cy="4472476"/>
          </a:xfrm>
          <a:custGeom>
            <a:avLst/>
            <a:gdLst/>
            <a:ahLst/>
            <a:cxnLst/>
            <a:rect r="r" b="b" t="t" l="l"/>
            <a:pathLst>
              <a:path h="4472476" w="3041284">
                <a:moveTo>
                  <a:pt x="0" y="0"/>
                </a:moveTo>
                <a:lnTo>
                  <a:pt x="3041283" y="0"/>
                </a:lnTo>
                <a:lnTo>
                  <a:pt x="3041283" y="4472476"/>
                </a:lnTo>
                <a:lnTo>
                  <a:pt x="0" y="4472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18146" y="474079"/>
            <a:ext cx="11441154" cy="9338842"/>
          </a:xfrm>
          <a:custGeom>
            <a:avLst/>
            <a:gdLst/>
            <a:ahLst/>
            <a:cxnLst/>
            <a:rect r="r" b="b" t="t" l="l"/>
            <a:pathLst>
              <a:path h="9338842" w="11441154">
                <a:moveTo>
                  <a:pt x="0" y="0"/>
                </a:moveTo>
                <a:lnTo>
                  <a:pt x="11441154" y="0"/>
                </a:lnTo>
                <a:lnTo>
                  <a:pt x="11441154" y="9338842"/>
                </a:lnTo>
                <a:lnTo>
                  <a:pt x="0" y="9338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296427"/>
            <a:ext cx="3563640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spc="250">
                <a:solidFill>
                  <a:srgbClr val="251C1C"/>
                </a:solidFill>
                <a:latin typeface="Adumu Regular"/>
                <a:ea typeface="Adumu Regular"/>
                <a:cs typeface="Adumu Regular"/>
                <a:sym typeface="Adumu Regular"/>
              </a:rPr>
              <a:t>ROC CURVE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737135">
            <a:off x="-501340" y="-279892"/>
            <a:ext cx="8115300" cy="2617184"/>
          </a:xfrm>
          <a:custGeom>
            <a:avLst/>
            <a:gdLst/>
            <a:ahLst/>
            <a:cxnLst/>
            <a:rect r="r" b="b" t="t" l="l"/>
            <a:pathLst>
              <a:path h="2617184" w="8115300">
                <a:moveTo>
                  <a:pt x="0" y="0"/>
                </a:moveTo>
                <a:lnTo>
                  <a:pt x="8115300" y="0"/>
                </a:lnTo>
                <a:lnTo>
                  <a:pt x="8115300" y="2617184"/>
                </a:lnTo>
                <a:lnTo>
                  <a:pt x="0" y="2617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69802" y="7088932"/>
            <a:ext cx="4530415" cy="3862179"/>
          </a:xfrm>
          <a:custGeom>
            <a:avLst/>
            <a:gdLst/>
            <a:ahLst/>
            <a:cxnLst/>
            <a:rect r="r" b="b" t="t" l="l"/>
            <a:pathLst>
              <a:path h="3862179" w="4530415">
                <a:moveTo>
                  <a:pt x="0" y="0"/>
                </a:moveTo>
                <a:lnTo>
                  <a:pt x="4530415" y="0"/>
                </a:lnTo>
                <a:lnTo>
                  <a:pt x="4530415" y="3862179"/>
                </a:lnTo>
                <a:lnTo>
                  <a:pt x="0" y="38621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71528" y="4383504"/>
            <a:ext cx="7944943" cy="1434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660"/>
              </a:lnSpc>
              <a:spcBef>
                <a:spcPct val="0"/>
              </a:spcBef>
            </a:pPr>
            <a:r>
              <a:rPr lang="en-US" sz="8884" spc="444">
                <a:solidFill>
                  <a:srgbClr val="FFFFFF"/>
                </a:solidFill>
                <a:latin typeface="Adumu Regular"/>
                <a:ea typeface="Adumu Regular"/>
                <a:cs typeface="Adumu Regular"/>
                <a:sym typeface="Adumu Regular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DAHDZyZEkII</dc:identifier>
  <dcterms:modified xsi:type="dcterms:W3CDTF">2011-08-01T06:04:30Z</dcterms:modified>
  <cp:revision>1</cp:revision>
  <dc:title>Description</dc:title>
</cp:coreProperties>
</file>